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018" y="3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8887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2286000" cy="19431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7132320" y="-457200"/>
            <a:ext cx="2286000" cy="2286000"/>
          </a:xfrm>
          <a:prstGeom prst="ellipse">
            <a:avLst/>
          </a:prstGeom>
          <a:solidFill>
            <a:srgbClr val="0A3A5C">
              <a:alpha val="50000"/>
            </a:srgbClr>
          </a:solidFill>
          <a:ln w="12700">
            <a:solidFill>
              <a:srgbClr val="0A3A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097280"/>
            <a:ext cx="1645920" cy="1645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645920"/>
            <a:ext cx="10972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365760" y="640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0891B2"/>
                </a:solidFill>
              </a:rPr>
              <a:t>TREINAMENTO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10058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365760" y="1920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0F2FE"/>
                </a:solidFill>
              </a:rPr>
              <a:t>Lei Geral de Proteção de Dados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65760" y="2651760"/>
            <a:ext cx="411480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457200" y="26517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</a:rPr>
              <a:t>Boas Práticas de Proteção de Dados Pessoais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6576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Nível </a:t>
            </a:r>
            <a:r>
              <a:rPr lang="en-US" sz="1100" dirty="0" err="1">
                <a:solidFill>
                  <a:srgbClr val="64748B"/>
                </a:solidFill>
              </a:rPr>
              <a:t>Introdutório</a:t>
            </a:r>
            <a:r>
              <a:rPr lang="en-US" sz="1100" dirty="0">
                <a:solidFill>
                  <a:srgbClr val="64748B"/>
                </a:solidFill>
              </a:rPr>
              <a:t>  |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 QUE VAMOS APRENDER HOJE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50292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0972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 que é a LGPD?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481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Contexto, histórico e por que ela existe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50292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754880" y="100584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49240" y="10972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Conceitos Fundamentais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49240" y="1481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Dados pessoais, titulares, bases legais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274320" y="2194560"/>
            <a:ext cx="50292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274320" y="219456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22860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Direitos dos Titulares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2670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O que os cidadãos podem exigir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19456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4754880" y="2194560"/>
            <a:ext cx="50292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754880" y="219456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49240" y="22860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Boas Práticas no Trabalho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2670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Como proteger dados no dia a dia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3832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274320" y="3383280"/>
            <a:ext cx="50292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274320" y="33832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8680" y="34747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Penalidades e Riscos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38587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Consequências do descumprimento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3832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4754880" y="3383280"/>
            <a:ext cx="50292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4754880" y="33832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49240" y="34747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Checklist Final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38587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Resumo das ações obrigatórias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891B2"/>
                </a:solidFill>
              </a:rPr>
              <a:t>01  |  O QUE É A LGPD?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91440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822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</a:rPr>
              <a:t>Lei nº 13.709/2018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65760" y="13716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A LGPD regula o tratamento de dados pessoais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no Brasil — em empresas, órgãos públicos e pessoas físicas.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65760" y="2468880"/>
            <a:ext cx="2651760" cy="1280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365760" y="2514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FFFFFF"/>
                </a:solidFill>
              </a:rPr>
              <a:t>Vigência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65760" y="28803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Setembro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2020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291840" y="2468880"/>
            <a:ext cx="2651760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3291840" y="2514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FFFFFF"/>
                </a:solidFill>
              </a:rPr>
              <a:t>Inspiração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291840" y="28803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GDPR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Europeia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217920" y="2468880"/>
            <a:ext cx="2651760" cy="1280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217920" y="2514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FFFFFF"/>
                </a:solidFill>
              </a:rPr>
              <a:t>Fiscalização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217920" y="28803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ANPD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Nacional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65760" y="4023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2FE"/>
                </a:solidFill>
              </a:rPr>
              <a:t>🎯  Objetivo: proteger a privacidade e os direitos fundamentais dos cidadãos no uso de seus dados.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6B6D4"/>
                </a:solidFill>
              </a:rPr>
              <a:t>02  |  CONCEITOS FUNDAMENTAIS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2743200" cy="4114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20040" y="9326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👤  Dado Pessoal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Qualquer informação que identifique ou permita identificar uma pessoa: nome, CPF, e-mail, localização, IP, cookies.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743200" cy="4114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291840" y="9326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🔒  Dado Sensível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4173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Origem racial, saúde, biometria, orientação sexual, religião. Exige proteção extra e base legal específica.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2200" y="9144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6172200" y="914400"/>
            <a:ext cx="2743200" cy="4114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263640" y="9326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🙋  Titular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14173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A pessoa natural a quem os dados pertencem. Tem direitos garantidos por lei sobre seus próprios dados.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8346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228600" y="2834640"/>
            <a:ext cx="2743200" cy="4114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320040" y="28529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🏢  Controlador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" y="33375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Empresa ou pessoa que decide como e por que os dados são tratados. É o principal responsável legal.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8346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200400" y="2834640"/>
            <a:ext cx="2743200" cy="4114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291840" y="28529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⚙️  Operador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33375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Quem trata os dados em nome do controlador (ex.: fornecedor de sistema, empresa de TI).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28346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6172200" y="2834640"/>
            <a:ext cx="2743200" cy="4114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263640" y="28529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 Tratamento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63640" y="33375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Qualquer operação com dados: coleta, armazenamento, uso, compartilhamento, exclusão.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6B6D4"/>
                </a:solidFill>
              </a:rPr>
              <a:t>02  |  BASES LEGAIS PARA TRATAMENTO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Para tratar dados pessoais, SEMPRE é necessária uma base legal: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4114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74320" y="13258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371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Consentimento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58191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O titular autorizou expressamente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938528"/>
            <a:ext cx="8595360" cy="502920"/>
          </a:xfrm>
          <a:prstGeom prst="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274320" y="1938528"/>
            <a:ext cx="4114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274320" y="193852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19842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Contrato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219456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Necessário para executar contrato com o titular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551176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274320" y="2551176"/>
            <a:ext cx="4114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274320" y="2551176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25968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Obrigação Legal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280720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A lei exige o tratamento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163824"/>
            <a:ext cx="8595360" cy="502920"/>
          </a:xfrm>
          <a:prstGeom prst="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274320" y="3163824"/>
            <a:ext cx="4114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274320" y="3163824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32095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Legítimo Interesse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3419856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Interesse legítimo do controlador ou de terceiros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776472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274320" y="3776472"/>
            <a:ext cx="4114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274320" y="377647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" y="38221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Proteção da Vida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" y="403250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Para proteger a vida do titular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4389120"/>
            <a:ext cx="8595360" cy="502920"/>
          </a:xfrm>
          <a:prstGeom prst="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274320" y="4389120"/>
            <a:ext cx="4114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274320" y="43891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77240" y="44348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Tutela da Saúde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" y="464515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Procedimentos de saúde e serviços médicos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6B6D4"/>
                </a:solidFill>
              </a:rPr>
              <a:t>03  |  DIREITOS DOS TITULARES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965960" cy="1554480"/>
          </a:xfrm>
          <a:prstGeom prst="rect">
            <a:avLst/>
          </a:prstGeom>
          <a:solidFill>
            <a:srgbClr val="1A3A5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554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Acesso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8745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Saber quais dados temos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50592" y="914400"/>
            <a:ext cx="1965960" cy="1554480"/>
          </a:xfrm>
          <a:prstGeom prst="rect">
            <a:avLst/>
          </a:prstGeom>
          <a:solidFill>
            <a:srgbClr val="1A3A5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450592" y="1051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✏️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50592" y="1554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Correção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50592" y="18745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Corrigir dados errados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26864" y="914400"/>
            <a:ext cx="1965960" cy="1554480"/>
          </a:xfrm>
          <a:prstGeom prst="rect">
            <a:avLst/>
          </a:prstGeom>
          <a:solidFill>
            <a:srgbClr val="1A3A5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626864" y="1051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🗑️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26864" y="1554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Exclusão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26864" y="18745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Pedir apagamento dos dados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03136" y="914400"/>
            <a:ext cx="1965960" cy="1554480"/>
          </a:xfrm>
          <a:prstGeom prst="rect">
            <a:avLst/>
          </a:prstGeom>
          <a:solidFill>
            <a:srgbClr val="1A3A5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803136" y="1051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03136" y="1554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Portabilidade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03136" y="18745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Levar dados para outro serviço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743200"/>
            <a:ext cx="1965960" cy="1554480"/>
          </a:xfrm>
          <a:prstGeom prst="rect">
            <a:avLst/>
          </a:prstGeom>
          <a:solidFill>
            <a:srgbClr val="1A3A5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274320" y="28803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🚫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274320" y="33832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Oposição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4320" y="3703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Opor-se ao tratamento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450592" y="2743200"/>
            <a:ext cx="1965960" cy="1554480"/>
          </a:xfrm>
          <a:prstGeom prst="rect">
            <a:avLst/>
          </a:prstGeom>
          <a:solidFill>
            <a:srgbClr val="1A3A5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2450592" y="28803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2450592" y="33832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Informação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450592" y="3703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Saber com quem dados são compartilhados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26864" y="2743200"/>
            <a:ext cx="1965960" cy="1554480"/>
          </a:xfrm>
          <a:prstGeom prst="rect">
            <a:avLst/>
          </a:prstGeom>
          <a:solidFill>
            <a:srgbClr val="1A3A5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4626864" y="28803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↩️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4626864" y="33832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Revogação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626864" y="3703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Retirar consentimento dado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803136" y="2743200"/>
            <a:ext cx="1965960" cy="1554480"/>
          </a:xfrm>
          <a:prstGeom prst="rect">
            <a:avLst/>
          </a:prstGeom>
          <a:solidFill>
            <a:srgbClr val="1A3A5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6803136" y="28803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⚖️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803136" y="33832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Revisão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03136" y="3703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Revisão de decisões automatizadas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6B6D4"/>
                </a:solidFill>
              </a:rPr>
              <a:t>04  |  BOAS PRÁTICAS — TODOS OS COLABORADORES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FAÇA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347472" y="1389888"/>
            <a:ext cx="320040" cy="3200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47472" y="1389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31673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Use senhas fortes e únicas para sistemas com dados pessoais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993392"/>
            <a:ext cx="4114800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47472" y="2121408"/>
            <a:ext cx="320040" cy="3200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47472" y="21214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204825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Acesse apenas os dados necessários para sua função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724912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347472" y="2852928"/>
            <a:ext cx="320040" cy="3200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47472" y="2852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277977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Nunca compartilhe dados de clientes por canais não seguros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456432"/>
            <a:ext cx="4114800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347472" y="3584448"/>
            <a:ext cx="320040" cy="3200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347472" y="3584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351129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Bloqueie sua tela ao se afastar do computador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4187952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347472" y="4315968"/>
            <a:ext cx="320040" cy="3200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347472" y="4315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424281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Reporte imediatamente suspeitas de vazamento ao responsável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777240"/>
            <a:ext cx="411480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4754880" y="7772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❌  NÃO FAÇA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1261872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4828032" y="1389888"/>
            <a:ext cx="320040" cy="3200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4828032" y="1389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✕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38928" y="131673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Não envie dados pessoais por WhatsApp pessoal ou e-mail não corporativo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1993392"/>
            <a:ext cx="4114800" cy="621792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4828032" y="2121408"/>
            <a:ext cx="320040" cy="3200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4828032" y="21214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✕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38928" y="204825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Não imprima documentos com dados pessoais desnecessariamente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2724912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4828032" y="2852928"/>
            <a:ext cx="320040" cy="3200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4828032" y="2852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✕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38928" y="277977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Não colete dados que não são necessários para a atividade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3456432"/>
            <a:ext cx="4114800" cy="621792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4828032" y="3584448"/>
            <a:ext cx="320040" cy="3200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4828032" y="3584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✕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38928" y="351129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Não compartilhe credenciais de acesso com colegas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4187952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4828032" y="4315968"/>
            <a:ext cx="320040" cy="3200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4828032" y="4315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✕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138928" y="424281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Não armazene dados em dispositivos pessoais sem autorização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6B6D4"/>
                </a:solidFill>
              </a:rPr>
              <a:t>04  |  BOAS PRÁTICAS — EQUIPE DE TI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84048" y="150876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</a:rPr>
              <a:t>Privacy by Design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828800"/>
            <a:ext cx="2523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Projete sistemas com privacidade desde o início — não como um recurso adicional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86868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20040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🗂️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310128" y="150876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</a:rPr>
              <a:t>Minimização de Dados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10128" y="1828800"/>
            <a:ext cx="2523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Colete apenas o que é estritamente necessário para a finalidade declarada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86868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12648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🔑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36208" y="150876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</a:rPr>
              <a:t>Controle de Acesso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36208" y="1828800"/>
            <a:ext cx="2523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Implemente RBAC — cada usuário acessa só o que precisa para sua função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27432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84048" y="347472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</a:rPr>
              <a:t>Criptografia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" y="3794760"/>
            <a:ext cx="2523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Dados pessoais em trânsito e em repouso devem ser criptografados (TLS, AES-256)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83464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320040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310128" y="347472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</a:rPr>
              <a:t>Logs de Auditoria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10128" y="3794760"/>
            <a:ext cx="2523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Registre todos os acessos e operações sobre dados pessoais sensíveis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83464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12648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⏰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236208" y="347472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</a:rPr>
              <a:t>Retenção de Dados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36208" y="3794760"/>
            <a:ext cx="2523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Defina e implemente políticas de exclusão automática após o prazo de retenção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B0000"/>
          </a:solidFill>
          <a:ln w="12700">
            <a:solidFill>
              <a:srgbClr val="3B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CA5A5"/>
                </a:solidFill>
              </a:rPr>
              <a:t>05  |  PENALIDADES E RISCOS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914400"/>
            <a:ext cx="1188720" cy="1188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8229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A ANPD pode aplicar sanções às empresas: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74320" y="1325880"/>
            <a:ext cx="8595360" cy="502920"/>
          </a:xfrm>
          <a:prstGeom prst="rect">
            <a:avLst/>
          </a:prstGeom>
          <a:solidFill>
            <a:srgbClr val="2D0000"/>
          </a:solidFill>
          <a:ln w="12700">
            <a:solidFill>
              <a:srgbClr val="5A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365760" y="136245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A5A5"/>
                </a:solidFill>
              </a:rPr>
              <a:t>⚠️  Advertência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651760" y="141732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Indicação de prazo para adoção de medidas corretivas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" y="1938528"/>
            <a:ext cx="8595360" cy="502920"/>
          </a:xfrm>
          <a:prstGeom prst="rect">
            <a:avLst/>
          </a:prstGeom>
          <a:solidFill>
            <a:srgbClr val="2D0000"/>
          </a:solidFill>
          <a:ln w="12700">
            <a:solidFill>
              <a:srgbClr val="5A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365760" y="197510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A5A5"/>
                </a:solidFill>
              </a:rPr>
              <a:t>💰  Multa Simples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651760" y="202996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Até 2% do faturamento — limite de R$ 50 milhões por infração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4320" y="2551176"/>
            <a:ext cx="8595360" cy="502920"/>
          </a:xfrm>
          <a:prstGeom prst="rect">
            <a:avLst/>
          </a:prstGeom>
          <a:solidFill>
            <a:srgbClr val="2D0000"/>
          </a:solidFill>
          <a:ln w="12700">
            <a:solidFill>
              <a:srgbClr val="5A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365760" y="258775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A5A5"/>
                </a:solidFill>
              </a:rPr>
              <a:t>📈  Multa Diária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651760" y="2642616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Multa recorrente enquanto a infração persistir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74320" y="3163824"/>
            <a:ext cx="8595360" cy="502920"/>
          </a:xfrm>
          <a:prstGeom prst="rect">
            <a:avLst/>
          </a:prstGeom>
          <a:solidFill>
            <a:srgbClr val="2D0000"/>
          </a:solidFill>
          <a:ln w="12700">
            <a:solidFill>
              <a:srgbClr val="5A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365760" y="320040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A5A5"/>
                </a:solidFill>
              </a:rPr>
              <a:t>🚫  Bloqueio de Dados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651760" y="3255264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Suspensão do tratamento dos dados infringidos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74320" y="3776472"/>
            <a:ext cx="8595360" cy="502920"/>
          </a:xfrm>
          <a:prstGeom prst="rect">
            <a:avLst/>
          </a:prstGeom>
          <a:solidFill>
            <a:srgbClr val="2D0000"/>
          </a:solidFill>
          <a:ln w="12700">
            <a:solidFill>
              <a:srgbClr val="5A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365760" y="381304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A5A5"/>
                </a:solidFill>
              </a:rPr>
              <a:t>🗑️  Eliminação de Dados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651760" y="386791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Exclusão compulsória dos dados pessoais tratados irregularmente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74320" y="4389120"/>
            <a:ext cx="8595360" cy="502920"/>
          </a:xfrm>
          <a:prstGeom prst="rect">
            <a:avLst/>
          </a:prstGeom>
          <a:solidFill>
            <a:srgbClr val="2D0000"/>
          </a:solidFill>
          <a:ln w="12700">
            <a:solidFill>
              <a:srgbClr val="5A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365760" y="442569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A5A5"/>
                </a:solidFill>
              </a:rPr>
              <a:t>📢  Publicização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651760" y="448056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Divulgação pública da infração — dano reputacional severo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6B6D4"/>
                </a:solidFill>
              </a:rPr>
              <a:t>06  |  CHECKLIST — O QUE VOCÊ DEVE FAZER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00584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Conheça quais dados pessoais sua área coleta e trata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709160" y="91440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03520" y="100584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Saiba qual é a base legal para cada tratamento realizado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74320" y="192024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10312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8680" y="201168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Use apenas sistemas e ferramentas aprovados pela empresa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709160" y="192024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103120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303520" y="201168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Nunca compartilhe dados sem autorização formal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274320" y="292608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108960"/>
            <a:ext cx="411480" cy="4114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68680" y="301752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Em caso de incidente, reporte em até 72h ao DPO/responsável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4709160" y="292608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108960"/>
            <a:ext cx="411480" cy="41148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303520" y="301752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Solicite treinamento periódico sobre atualizações da LGPD</a:t>
            </a:r>
            <a:endParaRPr lang="en-US" sz="1100" dirty="0"/>
          </a:p>
        </p:txBody>
      </p:sp>
      <p:sp>
        <p:nvSpPr>
          <p:cNvPr id="22" name="Shape 14"/>
          <p:cNvSpPr/>
          <p:nvPr/>
        </p:nvSpPr>
        <p:spPr>
          <a:xfrm>
            <a:off x="274320" y="393192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114800"/>
            <a:ext cx="411480" cy="41148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868680" y="402336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Respeite e atenda os direitos dos titulares quando solicitado</a:t>
            </a:r>
            <a:endParaRPr lang="en-US" sz="1100" dirty="0"/>
          </a:p>
        </p:txBody>
      </p:sp>
      <p:sp>
        <p:nvSpPr>
          <p:cNvPr id="25" name="Shape 16"/>
          <p:cNvSpPr/>
          <p:nvPr/>
        </p:nvSpPr>
        <p:spPr>
          <a:xfrm>
            <a:off x="4709160" y="393192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4114800"/>
            <a:ext cx="411480" cy="41148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303520" y="402336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Mantenha sua área de trabalho (física e digital) segura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3657600" y="0"/>
            <a:ext cx="54864" cy="5143500"/>
          </a:xfrm>
          <a:prstGeom prst="rect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2286000" cy="2286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840480" y="1097280"/>
            <a:ext cx="11887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3840480" y="640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PROTEGER DADOS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840480" y="12344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91B2"/>
                </a:solidFill>
              </a:rPr>
              <a:t>É RESPONSABILIDADE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0891B2"/>
                </a:solidFill>
              </a:rPr>
              <a:t>DE TODOS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840480" y="24688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F2FE"/>
                </a:solidFill>
              </a:rPr>
              <a:t>A LGPD não é apenas uma obrigação legal — é um compromisso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0F2FE"/>
                </a:solidFill>
              </a:rPr>
              <a:t>com a privacidade e dignidade das pessoas.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84048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</a:rPr>
              <a:t>📧  Dúvidas? Fale com o DPO da sua empresa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840480" y="3840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🌐  anpd.gov.br  |  Lei nº 13.709/2018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830</Words>
  <Application>Microsoft Office PowerPoint</Application>
  <PresentationFormat>Apresentação na tela (16:9)</PresentationFormat>
  <Paragraphs>179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Treinamento LGPD - Boas Práticas</dc:title>
  <dc:subject>PptxGenJS Presentation</dc:subject>
  <dc:creator>PptxGenJS</dc:creator>
  <cp:lastModifiedBy>Amanda Santos Boggio</cp:lastModifiedBy>
  <cp:revision>2</cp:revision>
  <dcterms:created xsi:type="dcterms:W3CDTF">2026-02-26T21:36:13Z</dcterms:created>
  <dcterms:modified xsi:type="dcterms:W3CDTF">2026-02-26T21:56:14Z</dcterms:modified>
</cp:coreProperties>
</file>